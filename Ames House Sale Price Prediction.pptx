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Figtree"/>
      <p:regular r:id="rId17"/>
      <p:bold r:id="rId18"/>
      <p:italic r:id="rId19"/>
      <p:boldItalic r:id="rId20"/>
    </p:embeddedFont>
    <p:embeddedFont>
      <p:font typeface="Figtree ExtraBold"/>
      <p:bold r:id="rId21"/>
      <p:boldItalic r:id="rId22"/>
    </p:embeddedFont>
    <p:embeddedFont>
      <p:font typeface="Figtree SemiBold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boldItalic.fntdata"/><Relationship Id="rId22" Type="http://schemas.openxmlformats.org/officeDocument/2006/relationships/font" Target="fonts/FigtreeExtraBold-boldItalic.fntdata"/><Relationship Id="rId21" Type="http://schemas.openxmlformats.org/officeDocument/2006/relationships/font" Target="fonts/FigtreeExtraBold-bold.fntdata"/><Relationship Id="rId24" Type="http://schemas.openxmlformats.org/officeDocument/2006/relationships/font" Target="fonts/FigtreeSemiBold-bold.fntdata"/><Relationship Id="rId23" Type="http://schemas.openxmlformats.org/officeDocument/2006/relationships/font" Target="fonts/Figtree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SemiBold-boldItalic.fntdata"/><Relationship Id="rId25" Type="http://schemas.openxmlformats.org/officeDocument/2006/relationships/font" Target="fonts/FigtreeSemiBold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gtree-regular.fntdata"/><Relationship Id="rId16" Type="http://schemas.openxmlformats.org/officeDocument/2006/relationships/slide" Target="slides/slide11.xml"/><Relationship Id="rId19" Type="http://schemas.openxmlformats.org/officeDocument/2006/relationships/font" Target="fonts/Figtree-italic.fntdata"/><Relationship Id="rId18" Type="http://schemas.openxmlformats.org/officeDocument/2006/relationships/font" Target="fonts/Figtre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b5501a1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b5501a1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b5501a1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b5501a1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b5501a17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b5501a17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b5501a17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cb5501a17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d2e341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d2e341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Feature Importance plot</a:t>
            </a:r>
            <a:r>
              <a:rPr lang="en">
                <a:solidFill>
                  <a:schemeClr val="dk1"/>
                </a:solidFill>
              </a:rPr>
              <a:t> reveals that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OverallQual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GrLivArea</a:t>
            </a:r>
            <a:r>
              <a:rPr lang="en">
                <a:solidFill>
                  <a:schemeClr val="dk1"/>
                </a:solidFill>
              </a:rPr>
              <a:t> are the most influential variables in predicting house prices. This suggests that the market in Ames, Iowa, places a premium on the structural quality and the total living space.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Interestingly, automated feature engineering (using Featuretools) also highlighted that the age of the property relative to its last renovation is a key factor. From a business perspective, this insight allows us to advise sellers to focus on high-visibility quality upgrades (like interior finishes) to maximize their sale price, as these features have a higher weight in our predictive model than others.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b5501a17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cb5501a17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d2e3419b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cd2e3419b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As shown in the graph, our Gradient Boosting model tracks actual sale prices very closely. The tightness of the points around the identity line proves our </a:t>
            </a:r>
            <a:r>
              <a:rPr b="1" lang="en">
                <a:solidFill>
                  <a:schemeClr val="dk1"/>
                </a:solidFill>
              </a:rPr>
              <a:t>92% R² score</a:t>
            </a:r>
            <a:r>
              <a:rPr lang="en">
                <a:solidFill>
                  <a:schemeClr val="dk1"/>
                </a:solidFill>
              </a:rPr>
              <a:t>, meaning the model is ready for real-world deployment with high confidence.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b5501a17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b5501a17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b5501a170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b5501a170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cb5501a17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cb5501a17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b5501a17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cb5501a17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6" name="Google Shape;136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7" name="Google Shape;137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6" name="Google Shape;156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8" name="Google Shape;158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8" name="Google Shape;168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0" name="Google Shape;180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1" name="Google Shape;181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7" name="Google Shape;187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9" name="Google Shape;189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2" name="Google Shape;192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4" name="Google Shape;194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6" name="Google Shape;196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8" name="Google Shape;198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7" name="Google Shape;207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8" name="Google Shape;208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8" name="Google Shape;218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19" name="Google Shape;219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2" name="Google Shape;222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3" name="Google Shape;223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0" name="Google Shape;230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1" name="Google Shape;231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2" name="Google Shape;232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5" name="Google Shape;235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7" name="Google Shape;237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9" name="Google Shape;239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0" name="Google Shape;240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1" name="Google Shape;241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7" name="Google Shape;247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3" name="Google Shape;253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5" name="Google Shape;255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7" name="Google Shape;257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9" name="Google Shape;259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0" name="Google Shape;260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1" name="Google Shape;261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4" name="Google Shape;264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7" name="Google Shape;267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3" name="Google Shape;273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4" name="Google Shape;274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5" name="Google Shape;275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8" name="Google Shape;278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79" name="Google Shape;279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0" name="Google Shape;280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1" name="Google Shape;281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2" name="Google Shape;282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8" name="Google Shape;288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2" name="Google Shape;292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4" name="Google Shape;294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9" name="Google Shape;299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0" name="Google Shape;300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3" name="Google Shape;303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6" name="Google Shape;306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09" name="Google Shape;309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1" name="Google Shape;311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4" name="Google Shape;314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6" name="Google Shape;316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7" name="Google Shape;317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8" name="Google Shape;318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1" name="Google Shape;321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4" name="Google Shape;324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1" name="Google Shape;331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2" name="Google Shape;332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4" name="Google Shape;334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6" name="Google Shape;336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7" name="Google Shape;337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8" name="Google Shape;338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9" name="Google Shape;339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1" name="Google Shape;341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2" name="Google Shape;342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3" name="Google Shape;343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5" name="Google Shape;345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6" name="Google Shape;346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49" name="Google Shape;349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2" name="Google Shape;352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5" name="Google Shape;355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6" name="Google Shape;356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2" name="Google Shape;362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7" name="Google Shape;367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8" name="Google Shape;368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0" name="Google Shape;370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4" name="Google Shape;374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6" name="Google Shape;376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79" name="Google Shape;379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1" name="Google Shape;381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4" name="Google Shape;384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89" name="Google Shape;389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0" name="Google Shape;390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1" name="Google Shape;391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3" name="Google Shape;393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6" name="Google Shape;396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399" name="Google Shape;399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0" name="Google Shape;400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3" name="Google Shape;403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5" name="Google Shape;405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4" name="Google Shape;414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19" name="Google Shape;419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0" name="Google Shape;420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2" name="Google Shape;422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3" name="Google Shape;423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4" name="Google Shape;424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6" name="Google Shape;426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29" name="Google Shape;429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2" name="Google Shape;432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3" name="Google Shape;433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7" name="Google Shape;437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ctrTitle"/>
          </p:nvPr>
        </p:nvSpPr>
        <p:spPr>
          <a:xfrm>
            <a:off x="429300" y="180715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AI-Driven Property Valuation: Optimizing House Sale Predictions</a:t>
            </a:r>
            <a:endParaRPr/>
          </a:p>
        </p:txBody>
      </p:sp>
      <p:sp>
        <p:nvSpPr>
          <p:cNvPr id="443" name="Google Shape;443;p40"/>
          <p:cNvSpPr txBox="1"/>
          <p:nvPr>
            <p:ph idx="1" type="subTitle"/>
          </p:nvPr>
        </p:nvSpPr>
        <p:spPr>
          <a:xfrm>
            <a:off x="3110100" y="3260675"/>
            <a:ext cx="2923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Hana Z. Hanifah</a:t>
            </a:r>
            <a:r>
              <a:rPr lang="en"/>
              <a:t>, 26.02.2026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41"/>
          <p:cNvSpPr txBox="1"/>
          <p:nvPr>
            <p:ph idx="1" type="body"/>
          </p:nvPr>
        </p:nvSpPr>
        <p:spPr>
          <a:xfrm>
            <a:off x="932400" y="2668700"/>
            <a:ext cx="7279200" cy="1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Manual Appraisal Bottleneck:</a:t>
            </a:r>
            <a:r>
              <a:rPr lang="en" sz="1200"/>
              <a:t> Traditional house valuation is slow, subjective, and prone to human error.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Risk of Mispricing:</a:t>
            </a:r>
            <a:r>
              <a:rPr lang="en" sz="1200"/>
              <a:t> Overpricing leads to stagnant inventory; underpricing leads to lost revenue.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The Need for Speed:</a:t>
            </a:r>
            <a:r>
              <a:rPr lang="en" sz="1200"/>
              <a:t> In a fast-moving market, instant and reliable pricing is a competitive advantage.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Goal:</a:t>
            </a:r>
            <a:r>
              <a:rPr lang="en" sz="1200"/>
              <a:t> Build a data-driven system to provide instant, objective price estimates.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0" name="Google Shape;450;p41"/>
          <p:cNvSpPr txBox="1"/>
          <p:nvPr>
            <p:ph type="title"/>
          </p:nvPr>
        </p:nvSpPr>
        <p:spPr>
          <a:xfrm>
            <a:off x="932400" y="1461225"/>
            <a:ext cx="7279200" cy="9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Automated Valuation Matters?</a:t>
            </a:r>
            <a:endParaRPr/>
          </a:p>
        </p:txBody>
      </p:sp>
      <p:sp>
        <p:nvSpPr>
          <p:cNvPr id="451" name="Google Shape;451;p41"/>
          <p:cNvSpPr txBox="1"/>
          <p:nvPr>
            <p:ph idx="3" type="subTitle"/>
          </p:nvPr>
        </p:nvSpPr>
        <p:spPr>
          <a:xfrm>
            <a:off x="7476775" y="58800"/>
            <a:ext cx="15564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peech bubbles connected with common grounds paper." id="456" name="Google Shape;456;p42"/>
          <p:cNvPicPr preferRelativeResize="0"/>
          <p:nvPr/>
        </p:nvPicPr>
        <p:blipFill rotWithShape="1">
          <a:blip r:embed="rId3">
            <a:alphaModFix/>
          </a:blip>
          <a:srcRect b="0" l="14276" r="14276" t="0"/>
          <a:stretch/>
        </p:blipFill>
        <p:spPr>
          <a:xfrm>
            <a:off x="4571925" y="635100"/>
            <a:ext cx="4572000" cy="426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457" name="Google Shape;457;p42"/>
          <p:cNvSpPr txBox="1"/>
          <p:nvPr>
            <p:ph idx="1" type="body"/>
          </p:nvPr>
        </p:nvSpPr>
        <p:spPr>
          <a:xfrm>
            <a:off x="639300" y="1569275"/>
            <a:ext cx="3420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Process Overview: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100"/>
              <a:t>Automated EDA:</a:t>
            </a:r>
            <a:r>
              <a:rPr lang="en" sz="1100"/>
              <a:t> Instant identification of market trends and data anomalies (using YData Profiling).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100"/>
              <a:t>Smart Feature Engineering:</a:t>
            </a:r>
            <a:r>
              <a:rPr lang="en" sz="1100"/>
              <a:t> Automatically generating complex price drivers (e.g., house age vs. quality ratio) using Featuretools.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100"/>
              <a:t>AutoML Orchestration:</a:t>
            </a:r>
            <a:r>
              <a:rPr lang="en" sz="1100"/>
              <a:t> Testing 15+ algorithms simultaneously to find the most accurate model (PyCaret).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/>
              <a:t>Impact:</a:t>
            </a:r>
            <a:r>
              <a:rPr lang="en" sz="1000"/>
              <a:t> Reduced model development time from weeks to hours.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42"/>
          <p:cNvSpPr txBox="1"/>
          <p:nvPr>
            <p:ph type="title"/>
          </p:nvPr>
        </p:nvSpPr>
        <p:spPr>
          <a:xfrm>
            <a:off x="639300" y="8924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Through Automation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43"/>
          <p:cNvSpPr txBox="1"/>
          <p:nvPr>
            <p:ph type="title"/>
          </p:nvPr>
        </p:nvSpPr>
        <p:spPr>
          <a:xfrm>
            <a:off x="1069663" y="198850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What Actually Drives Property Prices?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 txBox="1"/>
          <p:nvPr/>
        </p:nvSpPr>
        <p:spPr>
          <a:xfrm>
            <a:off x="280963" y="2435750"/>
            <a:ext cx="23949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Building Quality</a:t>
            </a:r>
            <a:endParaRPr b="1" sz="13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7" name="Google Shape;467;p43"/>
          <p:cNvSpPr txBox="1"/>
          <p:nvPr>
            <p:ph idx="1" type="body"/>
          </p:nvPr>
        </p:nvSpPr>
        <p:spPr>
          <a:xfrm>
            <a:off x="350262" y="2890225"/>
            <a:ext cx="2325600" cy="67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Overall material and finish quality is the #1 predictor of value.</a:t>
            </a:r>
            <a:endParaRPr/>
          </a:p>
        </p:txBody>
      </p:sp>
      <p:sp>
        <p:nvSpPr>
          <p:cNvPr id="468" name="Google Shape;468;p43"/>
          <p:cNvSpPr txBox="1"/>
          <p:nvPr>
            <p:ph idx="4294967295" type="title"/>
          </p:nvPr>
        </p:nvSpPr>
        <p:spPr>
          <a:xfrm>
            <a:off x="3216375" y="2513150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Living Area</a:t>
            </a:r>
            <a:endParaRPr sz="1300"/>
          </a:p>
        </p:txBody>
      </p:sp>
      <p:sp>
        <p:nvSpPr>
          <p:cNvPr id="469" name="Google Shape;469;p43"/>
          <p:cNvSpPr txBox="1"/>
          <p:nvPr>
            <p:ph idx="7" type="body"/>
          </p:nvPr>
        </p:nvSpPr>
        <p:spPr>
          <a:xfrm>
            <a:off x="3216375" y="2890225"/>
            <a:ext cx="2325600" cy="67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</a:t>
            </a:r>
            <a:r>
              <a:rPr lang="en"/>
              <a:t>otal</a:t>
            </a:r>
            <a:r>
              <a:rPr lang="en"/>
              <a:t> square footage remains a non-negotiable price driver.</a:t>
            </a:r>
            <a:endParaRPr/>
          </a:p>
        </p:txBody>
      </p:sp>
      <p:sp>
        <p:nvSpPr>
          <p:cNvPr id="470" name="Google Shape;470;p43"/>
          <p:cNvSpPr txBox="1"/>
          <p:nvPr>
            <p:ph idx="4294967295" type="title"/>
          </p:nvPr>
        </p:nvSpPr>
        <p:spPr>
          <a:xfrm>
            <a:off x="6537437" y="2513150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Neighborhood Trends</a:t>
            </a:r>
            <a:endParaRPr sz="1300"/>
          </a:p>
        </p:txBody>
      </p:sp>
      <p:sp>
        <p:nvSpPr>
          <p:cNvPr id="471" name="Google Shape;471;p43"/>
          <p:cNvSpPr txBox="1"/>
          <p:nvPr>
            <p:ph idx="2" type="body"/>
          </p:nvPr>
        </p:nvSpPr>
        <p:spPr>
          <a:xfrm>
            <a:off x="6537437" y="2890225"/>
            <a:ext cx="2325600" cy="67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Location-specific demand significantly shifts the baseline price.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4" title="Screenshot 2026-03-05 at 09.44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75" y="437525"/>
            <a:ext cx="80962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483" name="Google Shape;483;p45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Reliable Estimates with Minimal Deviation</a:t>
            </a:r>
            <a:endParaRPr/>
          </a:p>
        </p:txBody>
      </p:sp>
      <p:sp>
        <p:nvSpPr>
          <p:cNvPr id="484" name="Google Shape;484;p45"/>
          <p:cNvSpPr txBox="1"/>
          <p:nvPr>
            <p:ph idx="2" type="title"/>
          </p:nvPr>
        </p:nvSpPr>
        <p:spPr>
          <a:xfrm>
            <a:off x="3197650" y="1550825"/>
            <a:ext cx="26574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Power (</a:t>
            </a:r>
            <a:r>
              <a:rPr lang="en"/>
              <a:t>R² Score</a:t>
            </a:r>
            <a:r>
              <a:rPr lang="en"/>
              <a:t>): 92%</a:t>
            </a:r>
            <a:endParaRPr/>
          </a:p>
        </p:txBody>
      </p:sp>
      <p:sp>
        <p:nvSpPr>
          <p:cNvPr id="485" name="Google Shape;485;p45"/>
          <p:cNvSpPr txBox="1"/>
          <p:nvPr>
            <p:ph idx="1" type="body"/>
          </p:nvPr>
        </p:nvSpPr>
        <p:spPr>
          <a:xfrm>
            <a:off x="3243275" y="1888450"/>
            <a:ext cx="24678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model successfully </a:t>
            </a:r>
            <a:r>
              <a:rPr lang="en"/>
              <a:t>captures 92% of the factors influencing house prices, indicating extremely high reliability across different property types</a:t>
            </a:r>
            <a:endParaRPr/>
          </a:p>
        </p:txBody>
      </p:sp>
      <p:sp>
        <p:nvSpPr>
          <p:cNvPr id="486" name="Google Shape;486;p45"/>
          <p:cNvSpPr txBox="1"/>
          <p:nvPr>
            <p:ph idx="3" type="title"/>
          </p:nvPr>
        </p:nvSpPr>
        <p:spPr>
          <a:xfrm>
            <a:off x="5893500" y="1550825"/>
            <a:ext cx="32505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in Context (MAPE): 8.4%</a:t>
            </a:r>
            <a:endParaRPr/>
          </a:p>
        </p:txBody>
      </p:sp>
      <p:sp>
        <p:nvSpPr>
          <p:cNvPr id="487" name="Google Shape;487;p45"/>
          <p:cNvSpPr txBox="1"/>
          <p:nvPr>
            <p:ph idx="4" type="body"/>
          </p:nvPr>
        </p:nvSpPr>
        <p:spPr>
          <a:xfrm>
            <a:off x="6355956" y="1888448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With an average market price of </a:t>
            </a:r>
            <a:r>
              <a:rPr b="1" lang="en" sz="1100"/>
              <a:t>$180,796</a:t>
            </a:r>
            <a:r>
              <a:rPr lang="en" sz="1100"/>
              <a:t>, our margin of error stands at a low </a:t>
            </a:r>
            <a:r>
              <a:rPr b="1" lang="en" sz="1100"/>
              <a:t>8.4%</a:t>
            </a:r>
            <a:r>
              <a:rPr lang="en" sz="1100"/>
              <a:t>.</a:t>
            </a:r>
            <a:endParaRPr/>
          </a:p>
        </p:txBody>
      </p:sp>
      <p:sp>
        <p:nvSpPr>
          <p:cNvPr id="488" name="Google Shape;488;p45"/>
          <p:cNvSpPr txBox="1"/>
          <p:nvPr>
            <p:ph idx="2" type="title"/>
          </p:nvPr>
        </p:nvSpPr>
        <p:spPr>
          <a:xfrm>
            <a:off x="3143650" y="2756800"/>
            <a:ext cx="27654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Deviation (MAE): </a:t>
            </a:r>
            <a:r>
              <a:rPr b="1" lang="en">
                <a:latin typeface="Figtree"/>
                <a:ea typeface="Figtree"/>
                <a:cs typeface="Figtree"/>
                <a:sym typeface="Figtree"/>
              </a:rPr>
              <a:t>~ $15,214</a:t>
            </a:r>
            <a:r>
              <a:rPr lang="en"/>
              <a:t> </a:t>
            </a:r>
            <a:endParaRPr/>
          </a:p>
        </p:txBody>
      </p:sp>
      <p:sp>
        <p:nvSpPr>
          <p:cNvPr id="489" name="Google Shape;489;p45"/>
          <p:cNvSpPr txBox="1"/>
          <p:nvPr>
            <p:ph idx="1" type="body"/>
          </p:nvPr>
        </p:nvSpPr>
        <p:spPr>
          <a:xfrm>
            <a:off x="3338100" y="3147850"/>
            <a:ext cx="24678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On average, our automated price estimates only differ from the actual sale price by roughly </a:t>
            </a:r>
            <a:r>
              <a:rPr b="1" lang="en"/>
              <a:t>$15k</a:t>
            </a:r>
            <a:r>
              <a:rPr lang="en"/>
              <a:t>.</a:t>
            </a:r>
            <a:endParaRPr/>
          </a:p>
        </p:txBody>
      </p:sp>
      <p:sp>
        <p:nvSpPr>
          <p:cNvPr id="490" name="Google Shape;490;p45"/>
          <p:cNvSpPr txBox="1"/>
          <p:nvPr>
            <p:ph idx="2" type="title"/>
          </p:nvPr>
        </p:nvSpPr>
        <p:spPr>
          <a:xfrm>
            <a:off x="6136050" y="2756800"/>
            <a:ext cx="27654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Business Verdict:</a:t>
            </a:r>
            <a:endParaRPr/>
          </a:p>
        </p:txBody>
      </p:sp>
      <p:sp>
        <p:nvSpPr>
          <p:cNvPr id="491" name="Google Shape;491;p45"/>
          <p:cNvSpPr txBox="1"/>
          <p:nvPr>
            <p:ph idx="1" type="body"/>
          </p:nvPr>
        </p:nvSpPr>
        <p:spPr>
          <a:xfrm>
            <a:off x="6284850" y="3147850"/>
            <a:ext cx="24678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sub-10% error rate is considered </a:t>
            </a:r>
            <a:r>
              <a:rPr b="1" lang="en"/>
              <a:t>"Gold Standard"</a:t>
            </a:r>
            <a:r>
              <a:rPr lang="en"/>
              <a:t> for automated valuation models (AVM). It provides a safe, data-backed foundation for instant quotes and initial negotiations.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46" title="Screenshot 2026-03-05 at 09.4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75" y="513112"/>
            <a:ext cx="4746876" cy="439107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6"/>
          <p:cNvSpPr txBox="1"/>
          <p:nvPr/>
        </p:nvSpPr>
        <p:spPr>
          <a:xfrm>
            <a:off x="5725125" y="1357150"/>
            <a:ext cx="3113400" cy="2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3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R² score = 0.92 </a:t>
            </a:r>
            <a:r>
              <a:rPr lang="en"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(excellent confidence)</a:t>
            </a:r>
            <a:endParaRPr sz="13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gtree ExtraBold"/>
              <a:buChar char="●"/>
            </a:pPr>
            <a:r>
              <a:rPr lang="en" sz="13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Avg. error = $15,214 </a:t>
            </a:r>
            <a:r>
              <a:rPr lang="en"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(tight margin)</a:t>
            </a:r>
            <a:endParaRPr sz="13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gtree ExtraBold"/>
              <a:buChar char="●"/>
            </a:pPr>
            <a:r>
              <a:rPr lang="en" sz="1300">
                <a:solidFill>
                  <a:schemeClr val="dk1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Percentage = 8.4%</a:t>
            </a:r>
            <a:r>
              <a:rPr lang="en"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(Market Leading Accuracy)</a:t>
            </a:r>
            <a:endParaRPr sz="13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8" name="Google Shape;498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04" name="Google Shape;504;p4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Weeks to Hours: The Power of Automation</a:t>
            </a:r>
            <a:endParaRPr/>
          </a:p>
        </p:txBody>
      </p:sp>
      <p:sp>
        <p:nvSpPr>
          <p:cNvPr id="505" name="Google Shape;505;p47"/>
          <p:cNvSpPr txBox="1"/>
          <p:nvPr>
            <p:ph idx="2" type="title"/>
          </p:nvPr>
        </p:nvSpPr>
        <p:spPr>
          <a:xfrm>
            <a:off x="5771245" y="696413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Accelerated EDA: </a:t>
            </a:r>
            <a:endParaRPr/>
          </a:p>
        </p:txBody>
      </p:sp>
      <p:sp>
        <p:nvSpPr>
          <p:cNvPr id="506" name="Google Shape;506;p47"/>
          <p:cNvSpPr txBox="1"/>
          <p:nvPr>
            <p:ph idx="1" type="body"/>
          </p:nvPr>
        </p:nvSpPr>
        <p:spPr>
          <a:xfrm>
            <a:off x="5132100" y="962488"/>
            <a:ext cx="360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YData Profiling/Sweetviz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allowed us to identify data quality issues and market trends instantly, saving days of manual plotting.</a:t>
            </a:r>
            <a:endParaRPr/>
          </a:p>
        </p:txBody>
      </p:sp>
      <p:sp>
        <p:nvSpPr>
          <p:cNvPr id="507" name="Google Shape;507;p47"/>
          <p:cNvSpPr txBox="1"/>
          <p:nvPr>
            <p:ph idx="3" type="title"/>
          </p:nvPr>
        </p:nvSpPr>
        <p:spPr>
          <a:xfrm>
            <a:off x="5132100" y="1705875"/>
            <a:ext cx="36039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 Feature Discovery:</a:t>
            </a:r>
            <a:endParaRPr/>
          </a:p>
        </p:txBody>
      </p:sp>
      <p:sp>
        <p:nvSpPr>
          <p:cNvPr id="508" name="Google Shape;508;p47"/>
          <p:cNvSpPr txBox="1"/>
          <p:nvPr>
            <p:ph idx="4" type="body"/>
          </p:nvPr>
        </p:nvSpPr>
        <p:spPr>
          <a:xfrm>
            <a:off x="5132100" y="1905963"/>
            <a:ext cx="3603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Featuretools/Autofeat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automatically tested thousands of feature combinations (like ratios of living area to total rooms) that a human analyst might overlook.</a:t>
            </a:r>
            <a:endParaRPr/>
          </a:p>
        </p:txBody>
      </p:sp>
      <p:sp>
        <p:nvSpPr>
          <p:cNvPr id="509" name="Google Shape;509;p47"/>
          <p:cNvSpPr txBox="1"/>
          <p:nvPr>
            <p:ph idx="3" type="title"/>
          </p:nvPr>
        </p:nvSpPr>
        <p:spPr>
          <a:xfrm>
            <a:off x="5132100" y="2624063"/>
            <a:ext cx="36039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Benchmarking at Scale:</a:t>
            </a:r>
            <a:endParaRPr/>
          </a:p>
        </p:txBody>
      </p:sp>
      <p:sp>
        <p:nvSpPr>
          <p:cNvPr id="510" name="Google Shape;510;p47"/>
          <p:cNvSpPr txBox="1"/>
          <p:nvPr>
            <p:ph idx="4" type="body"/>
          </p:nvPr>
        </p:nvSpPr>
        <p:spPr>
          <a:xfrm>
            <a:off x="5068500" y="2859950"/>
            <a:ext cx="3731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Instead of manually coding one model at a time,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PyCaret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allowed us to compare 15+ algorithms simultaneously to ensure we found the absolute best performer (Gradient Boosting).</a:t>
            </a:r>
            <a:endParaRPr/>
          </a:p>
        </p:txBody>
      </p:sp>
      <p:sp>
        <p:nvSpPr>
          <p:cNvPr id="511" name="Google Shape;511;p47"/>
          <p:cNvSpPr txBox="1"/>
          <p:nvPr>
            <p:ph idx="3" type="title"/>
          </p:nvPr>
        </p:nvSpPr>
        <p:spPr>
          <a:xfrm>
            <a:off x="5250300" y="3679900"/>
            <a:ext cx="36039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Bottom Line:</a:t>
            </a:r>
            <a:endParaRPr/>
          </a:p>
        </p:txBody>
      </p:sp>
      <p:sp>
        <p:nvSpPr>
          <p:cNvPr id="512" name="Google Shape;512;p47"/>
          <p:cNvSpPr txBox="1"/>
          <p:nvPr>
            <p:ph idx="4" type="body"/>
          </p:nvPr>
        </p:nvSpPr>
        <p:spPr>
          <a:xfrm>
            <a:off x="5068500" y="3880000"/>
            <a:ext cx="3731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Automation reduced the development lifecycle by roughly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70-80%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allowing the team to focus on interpreting results rather than writing repetitive code.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18" name="Google Shape;518;p48"/>
          <p:cNvSpPr txBox="1"/>
          <p:nvPr>
            <p:ph idx="1" type="body"/>
          </p:nvPr>
        </p:nvSpPr>
        <p:spPr>
          <a:xfrm>
            <a:off x="809725" y="2571750"/>
            <a:ext cx="7572600" cy="1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300"/>
              <a:t>Implementation: </a:t>
            </a:r>
            <a:r>
              <a:rPr lang="en" sz="1200"/>
              <a:t>Integrate the model into our website to provide </a:t>
            </a:r>
            <a:r>
              <a:rPr b="1" lang="en" sz="1200"/>
              <a:t>"Instant Valuation"</a:t>
            </a:r>
            <a:r>
              <a:rPr lang="en" sz="1200"/>
              <a:t> for potential sellers, increasing lead generation.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Inventory Optimization:</a:t>
            </a:r>
            <a:r>
              <a:rPr lang="en" sz="1200"/>
              <a:t> Identify "undervalued" listings in our database where the model predicts a higher price than the current listing, signaling a potential high-margin opportunity.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Standardized Appraisal:</a:t>
            </a:r>
            <a:r>
              <a:rPr lang="en" sz="1200"/>
              <a:t> Use the AI as a "Second Opinion" for our human appraisers to ensure consistency across all regions and reduce bias.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/>
              <a:t>Continuous Learning:</a:t>
            </a:r>
            <a:r>
              <a:rPr lang="en" sz="1200"/>
              <a:t> Establish a feedback loop where actual closing prices are fed back into the model every month to adapt to shifting market trends.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19" name="Google Shape;519;p48"/>
          <p:cNvSpPr txBox="1"/>
          <p:nvPr>
            <p:ph type="title"/>
          </p:nvPr>
        </p:nvSpPr>
        <p:spPr>
          <a:xfrm>
            <a:off x="692400" y="1461225"/>
            <a:ext cx="7815600" cy="99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Transforming Insights into Business Action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25" name="Google Shape;525;p49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Learned from an Automated Workflow</a:t>
            </a:r>
            <a:endParaRPr/>
          </a:p>
        </p:txBody>
      </p:sp>
      <p:sp>
        <p:nvSpPr>
          <p:cNvPr id="526" name="Google Shape;526;p49"/>
          <p:cNvSpPr txBox="1"/>
          <p:nvPr>
            <p:ph idx="2" type="title"/>
          </p:nvPr>
        </p:nvSpPr>
        <p:spPr>
          <a:xfrm>
            <a:off x="3409838" y="1785250"/>
            <a:ext cx="23256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The Necessity of Judgment</a:t>
            </a:r>
            <a:endParaRPr sz="1700"/>
          </a:p>
        </p:txBody>
      </p:sp>
      <p:sp>
        <p:nvSpPr>
          <p:cNvPr id="527" name="Google Shape;527;p49"/>
          <p:cNvSpPr txBox="1"/>
          <p:nvPr>
            <p:ph idx="3" type="title"/>
          </p:nvPr>
        </p:nvSpPr>
        <p:spPr>
          <a:xfrm>
            <a:off x="362475" y="1785238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Strength of Automation</a:t>
            </a:r>
            <a:endParaRPr sz="1700"/>
          </a:p>
        </p:txBody>
      </p:sp>
      <p:sp>
        <p:nvSpPr>
          <p:cNvPr id="528" name="Google Shape;528;p49"/>
          <p:cNvSpPr txBox="1"/>
          <p:nvPr>
            <p:ph idx="8" type="body"/>
          </p:nvPr>
        </p:nvSpPr>
        <p:spPr>
          <a:xfrm>
            <a:off x="664275" y="2412100"/>
            <a:ext cx="1722000" cy="18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It is an incredible "force multiplier." 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It explores the "breadth" of possibilities (many models, many features) much faster than a human can.</a:t>
            </a:r>
            <a:endParaRPr sz="1400"/>
          </a:p>
        </p:txBody>
      </p:sp>
      <p:sp>
        <p:nvSpPr>
          <p:cNvPr id="529" name="Google Shape;529;p49"/>
          <p:cNvSpPr txBox="1"/>
          <p:nvPr>
            <p:ph idx="8" type="body"/>
          </p:nvPr>
        </p:nvSpPr>
        <p:spPr>
          <a:xfrm>
            <a:off x="3711000" y="2412100"/>
            <a:ext cx="1722000" cy="24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Automation is not a "Magic Box." Human intervention was still crucial for:</a:t>
            </a:r>
            <a:endParaRPr/>
          </a:p>
          <a:p>
            <a:pPr indent="-22225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/>
              <a:t>Data Cleaning: Ensuring the "Ground Truth" was accurate.</a:t>
            </a:r>
            <a:endParaRPr/>
          </a:p>
          <a:p>
            <a:pPr indent="-2222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/>
              <a:t>Business Context: Deciding that an 8.4% error is "good enough" for the business goal.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9"/>
          <p:cNvSpPr txBox="1"/>
          <p:nvPr>
            <p:ph idx="2" type="title"/>
          </p:nvPr>
        </p:nvSpPr>
        <p:spPr>
          <a:xfrm>
            <a:off x="6527463" y="1785250"/>
            <a:ext cx="23256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1700"/>
          </a:p>
        </p:txBody>
      </p:sp>
      <p:sp>
        <p:nvSpPr>
          <p:cNvPr id="531" name="Google Shape;531;p49"/>
          <p:cNvSpPr txBox="1"/>
          <p:nvPr>
            <p:ph idx="8" type="body"/>
          </p:nvPr>
        </p:nvSpPr>
        <p:spPr>
          <a:xfrm>
            <a:off x="6757725" y="2412100"/>
            <a:ext cx="1722000" cy="14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Automation doesn't replace the Data Scientist; it frees them to be more strategic. 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We are moving from being "coders" to being "architects of insights.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537" name="Google Shape;537;p50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